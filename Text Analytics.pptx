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77" r:id="rId2"/>
  </p:sldMasterIdLst>
  <p:sldIdLst>
    <p:sldId id="256" r:id="rId3"/>
    <p:sldId id="257" r:id="rId4"/>
    <p:sldId id="258" r:id="rId5"/>
    <p:sldId id="259" r:id="rId6"/>
    <p:sldId id="270" r:id="rId7"/>
    <p:sldId id="268" r:id="rId8"/>
    <p:sldId id="269" r:id="rId9"/>
    <p:sldId id="260" r:id="rId10"/>
    <p:sldId id="261" r:id="rId11"/>
    <p:sldId id="262" r:id="rId12"/>
    <p:sldId id="267" r:id="rId13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93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96160" y="685800"/>
            <a:ext cx="5120280" cy="2180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8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3" name="Google Shape;11;p2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  <p:sp>
        <p:nvSpPr>
          <p:cNvPr id="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284120" y="1515960"/>
            <a:ext cx="6575760" cy="1510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9000" b="1" u="none" strike="noStrik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9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cxnSp>
        <p:nvCxnSpPr>
          <p:cNvPr id="6" name="Google Shape;79;p11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7" name="Google Shape;80;p11"/>
          <p:cNvGrpSpPr/>
          <p:nvPr/>
        </p:nvGrpSpPr>
        <p:grpSpPr>
          <a:xfrm>
            <a:off x="714960" y="632160"/>
            <a:ext cx="103320" cy="615600"/>
            <a:chOff x="714960" y="632160"/>
            <a:chExt cx="103320" cy="615600"/>
          </a:xfrm>
        </p:grpSpPr>
        <p:sp>
          <p:nvSpPr>
            <p:cNvPr id="8" name="Google Shape;81;p11"/>
            <p:cNvSpPr/>
            <p:nvPr/>
          </p:nvSpPr>
          <p:spPr>
            <a:xfrm>
              <a:off x="714960" y="632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82;p11"/>
            <p:cNvSpPr/>
            <p:nvPr/>
          </p:nvSpPr>
          <p:spPr>
            <a:xfrm>
              <a:off x="714960" y="888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83;p11"/>
            <p:cNvSpPr/>
            <p:nvPr/>
          </p:nvSpPr>
          <p:spPr>
            <a:xfrm>
              <a:off x="714960" y="11444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" name="Google Shape;84;p11"/>
          <p:cNvSpPr/>
          <p:nvPr/>
        </p:nvSpPr>
        <p:spPr>
          <a:xfrm>
            <a:off x="7710480" y="5382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1690200" y="1390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726120" y="152892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title"/>
          </p:nvPr>
        </p:nvSpPr>
        <p:spPr>
          <a:xfrm>
            <a:off x="5681160" y="1390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1690200" y="3028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747000" y="316548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title"/>
          </p:nvPr>
        </p:nvSpPr>
        <p:spPr>
          <a:xfrm>
            <a:off x="5681160" y="3028680"/>
            <a:ext cx="2747520" cy="792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" name="PlaceHolder 7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9" name="Google Shape;98;p13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20" name="Google Shape;99;p13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1" name="PlaceHolder 8"/>
          <p:cNvSpPr>
            <a:spLocks noGrp="1"/>
          </p:cNvSpPr>
          <p:nvPr>
            <p:ph type="title"/>
          </p:nvPr>
        </p:nvSpPr>
        <p:spPr>
          <a:xfrm>
            <a:off x="4719600" y="152892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9"/>
          <p:cNvSpPr>
            <a:spLocks noGrp="1"/>
          </p:cNvSpPr>
          <p:nvPr>
            <p:ph type="title"/>
          </p:nvPr>
        </p:nvSpPr>
        <p:spPr>
          <a:xfrm>
            <a:off x="4740480" y="3165480"/>
            <a:ext cx="896760" cy="51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24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24" name="Google Shape;104;p14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25" name="Google Shape;105;p14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06;p14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07;p14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" name="Google Shape;108;p14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0" name="Google Shape;111;p15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Google Shape;114;p16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3" name="Google Shape;115;p16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2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117;p17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" name="Google Shape;121;p18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9" name="Google Shape;122;p18"/>
          <p:cNvSpPr/>
          <p:nvPr/>
        </p:nvSpPr>
        <p:spPr>
          <a:xfrm>
            <a:off x="8429040" y="402840"/>
            <a:ext cx="263520" cy="2635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30240" bIns="302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0" name="Google Shape;123;p18"/>
          <p:cNvSpPr/>
          <p:nvPr/>
        </p:nvSpPr>
        <p:spPr>
          <a:xfrm>
            <a:off x="7935120" y="5457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oogle Shape;126;p19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42" name="Google Shape;127;p19"/>
          <p:cNvGrpSpPr/>
          <p:nvPr/>
        </p:nvGrpSpPr>
        <p:grpSpPr>
          <a:xfrm>
            <a:off x="8325000" y="736920"/>
            <a:ext cx="103320" cy="615240"/>
            <a:chOff x="8325000" y="736920"/>
            <a:chExt cx="103320" cy="615240"/>
          </a:xfrm>
        </p:grpSpPr>
        <p:sp>
          <p:nvSpPr>
            <p:cNvPr id="43" name="Google Shape;128;p19"/>
            <p:cNvSpPr/>
            <p:nvPr/>
          </p:nvSpPr>
          <p:spPr>
            <a:xfrm>
              <a:off x="8325000" y="736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29;p19"/>
            <p:cNvSpPr/>
            <p:nvPr/>
          </p:nvSpPr>
          <p:spPr>
            <a:xfrm>
              <a:off x="8325000" y="992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30;p19"/>
            <p:cNvSpPr/>
            <p:nvPr/>
          </p:nvSpPr>
          <p:spPr>
            <a:xfrm>
              <a:off x="8325000" y="1248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7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1462680" y="534960"/>
            <a:ext cx="6217920" cy="1408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714960" y="2138760"/>
            <a:ext cx="7713720" cy="1950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cxnSp>
        <p:nvCxnSpPr>
          <p:cNvPr id="49" name="Google Shape;135;p20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50" name="Google Shape;136;p20"/>
          <p:cNvGrpSpPr/>
          <p:nvPr/>
        </p:nvGrpSpPr>
        <p:grpSpPr>
          <a:xfrm>
            <a:off x="714960" y="632160"/>
            <a:ext cx="103320" cy="615600"/>
            <a:chOff x="714960" y="632160"/>
            <a:chExt cx="103320" cy="615600"/>
          </a:xfrm>
        </p:grpSpPr>
        <p:sp>
          <p:nvSpPr>
            <p:cNvPr id="51" name="Google Shape;137;p20"/>
            <p:cNvSpPr/>
            <p:nvPr/>
          </p:nvSpPr>
          <p:spPr>
            <a:xfrm>
              <a:off x="714960" y="632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8;p20"/>
            <p:cNvSpPr/>
            <p:nvPr/>
          </p:nvSpPr>
          <p:spPr>
            <a:xfrm>
              <a:off x="714960" y="888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39;p20"/>
            <p:cNvSpPr/>
            <p:nvPr/>
          </p:nvSpPr>
          <p:spPr>
            <a:xfrm>
              <a:off x="714960" y="11444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4" name="Google Shape;140;p20"/>
          <p:cNvSpPr/>
          <p:nvPr/>
        </p:nvSpPr>
        <p:spPr>
          <a:xfrm>
            <a:off x="7710480" y="5382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715320" y="2396160"/>
            <a:ext cx="7713720" cy="1452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4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title"/>
          </p:nvPr>
        </p:nvSpPr>
        <p:spPr>
          <a:xfrm>
            <a:off x="2996640" y="1181520"/>
            <a:ext cx="31507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57" name="Google Shape;16;p3"/>
          <p:cNvGrpSpPr/>
          <p:nvPr/>
        </p:nvGrpSpPr>
        <p:grpSpPr>
          <a:xfrm>
            <a:off x="8325000" y="760320"/>
            <a:ext cx="103320" cy="615600"/>
            <a:chOff x="8325000" y="760320"/>
            <a:chExt cx="103320" cy="615600"/>
          </a:xfrm>
        </p:grpSpPr>
        <p:sp>
          <p:nvSpPr>
            <p:cNvPr id="58" name="Google Shape;17;p3"/>
            <p:cNvSpPr/>
            <p:nvPr/>
          </p:nvSpPr>
          <p:spPr>
            <a:xfrm>
              <a:off x="8325000" y="7603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9" name="Google Shape;18;p3"/>
            <p:cNvSpPr/>
            <p:nvPr/>
          </p:nvSpPr>
          <p:spPr>
            <a:xfrm>
              <a:off x="8325000" y="10162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0" name="Google Shape;19;p3"/>
            <p:cNvSpPr/>
            <p:nvPr/>
          </p:nvSpPr>
          <p:spPr>
            <a:xfrm>
              <a:off x="8325000" y="127260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" name="Google Shape;20;p3"/>
          <p:cNvSpPr/>
          <p:nvPr/>
        </p:nvSpPr>
        <p:spPr>
          <a:xfrm>
            <a:off x="714960" y="72360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cxnSp>
        <p:nvCxnSpPr>
          <p:cNvPr id="62" name="Google Shape;21;p3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142;p21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707400" y="534960"/>
            <a:ext cx="3864600" cy="1445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707400" y="2066040"/>
            <a:ext cx="3864600" cy="2326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5074560" y="534960"/>
            <a:ext cx="3019680" cy="3858120"/>
          </a:xfrm>
          <a:prstGeom prst="rect">
            <a:avLst/>
          </a:prstGeom>
          <a:noFill/>
          <a:ln w="19080">
            <a:solidFill>
              <a:schemeClr val="dk1"/>
            </a:solidFill>
            <a:round/>
          </a:ln>
        </p:spPr>
        <p:txBody>
          <a:bodyPr lIns="90000" tIns="45000" rIns="90000" bIns="45000" anchor="t">
            <a:normAutofit fontScale="5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2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2453760" y="135288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8" name="PlaceHolder 2"/>
          <p:cNvSpPr>
            <a:spLocks noGrp="1"/>
          </p:cNvSpPr>
          <p:nvPr>
            <p:ph type="title"/>
          </p:nvPr>
        </p:nvSpPr>
        <p:spPr>
          <a:xfrm>
            <a:off x="2453760" y="240804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9" name="PlaceHolder 3"/>
          <p:cNvSpPr>
            <a:spLocks noGrp="1"/>
          </p:cNvSpPr>
          <p:nvPr>
            <p:ph type="title"/>
          </p:nvPr>
        </p:nvSpPr>
        <p:spPr>
          <a:xfrm>
            <a:off x="2453760" y="3446640"/>
            <a:ext cx="3796920" cy="484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0" name="PlaceHolder 4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776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71" name="Google Shape;154;p22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72" name="Google Shape;155;p22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73" name="Google Shape;156;p22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75" name="Google Shape;159;p23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76" name="Google Shape;160;p23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161;p23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62;p23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9" name="PlaceHolder 2"/>
          <p:cNvSpPr>
            <a:spLocks noGrp="1"/>
          </p:cNvSpPr>
          <p:nvPr>
            <p:ph type="title"/>
          </p:nvPr>
        </p:nvSpPr>
        <p:spPr>
          <a:xfrm>
            <a:off x="71496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3"/>
          <p:cNvSpPr>
            <a:spLocks noGrp="1"/>
          </p:cNvSpPr>
          <p:nvPr>
            <p:ph type="title"/>
          </p:nvPr>
        </p:nvSpPr>
        <p:spPr>
          <a:xfrm>
            <a:off x="267732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1" name="PlaceHolder 4"/>
          <p:cNvSpPr>
            <a:spLocks noGrp="1"/>
          </p:cNvSpPr>
          <p:nvPr>
            <p:ph type="title"/>
          </p:nvPr>
        </p:nvSpPr>
        <p:spPr>
          <a:xfrm>
            <a:off x="463968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2" name="PlaceHolder 5"/>
          <p:cNvSpPr>
            <a:spLocks noGrp="1"/>
          </p:cNvSpPr>
          <p:nvPr>
            <p:ph type="title"/>
          </p:nvPr>
        </p:nvSpPr>
        <p:spPr>
          <a:xfrm>
            <a:off x="6601680" y="2580480"/>
            <a:ext cx="1827000" cy="9558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1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83" name="Google Shape;171;p23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85" name="Google Shape;174;p24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86" name="Google Shape;175;p24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76;p24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77;p24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89" name="PlaceHolder 2"/>
          <p:cNvSpPr>
            <a:spLocks noGrp="1"/>
          </p:cNvSpPr>
          <p:nvPr>
            <p:ph type="title"/>
          </p:nvPr>
        </p:nvSpPr>
        <p:spPr>
          <a:xfrm>
            <a:off x="1019880" y="137952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0" name="PlaceHolder 3"/>
          <p:cNvSpPr>
            <a:spLocks noGrp="1"/>
          </p:cNvSpPr>
          <p:nvPr>
            <p:ph type="title"/>
          </p:nvPr>
        </p:nvSpPr>
        <p:spPr>
          <a:xfrm>
            <a:off x="1019880" y="303228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1" name="PlaceHolder 4"/>
          <p:cNvSpPr>
            <a:spLocks noGrp="1"/>
          </p:cNvSpPr>
          <p:nvPr>
            <p:ph type="title"/>
          </p:nvPr>
        </p:nvSpPr>
        <p:spPr>
          <a:xfrm>
            <a:off x="6296760" y="303228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2" name="PlaceHolder 5"/>
          <p:cNvSpPr>
            <a:spLocks noGrp="1"/>
          </p:cNvSpPr>
          <p:nvPr>
            <p:ph type="title"/>
          </p:nvPr>
        </p:nvSpPr>
        <p:spPr>
          <a:xfrm>
            <a:off x="6296760" y="1379520"/>
            <a:ext cx="1827000" cy="52740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3" name="Google Shape;186;p24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1284120" y="65448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1284120" y="196992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title"/>
          </p:nvPr>
        </p:nvSpPr>
        <p:spPr>
          <a:xfrm>
            <a:off x="1284120" y="3288240"/>
            <a:ext cx="6575760" cy="7808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55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xx%</a:t>
            </a:r>
            <a:endParaRPr lang="fr-FR" sz="5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97" name="Google Shape;194;p25"/>
          <p:cNvGrpSpPr/>
          <p:nvPr/>
        </p:nvGrpSpPr>
        <p:grpSpPr>
          <a:xfrm>
            <a:off x="8325000" y="3971160"/>
            <a:ext cx="103320" cy="615240"/>
            <a:chOff x="8325000" y="3971160"/>
            <a:chExt cx="103320" cy="615240"/>
          </a:xfrm>
        </p:grpSpPr>
        <p:sp>
          <p:nvSpPr>
            <p:cNvPr id="98" name="Google Shape;195;p25"/>
            <p:cNvSpPr/>
            <p:nvPr/>
          </p:nvSpPr>
          <p:spPr>
            <a:xfrm>
              <a:off x="8325000" y="39711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96;p25"/>
            <p:cNvSpPr/>
            <p:nvPr/>
          </p:nvSpPr>
          <p:spPr>
            <a:xfrm>
              <a:off x="8325000" y="42271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97;p25"/>
            <p:cNvSpPr/>
            <p:nvPr/>
          </p:nvSpPr>
          <p:spPr>
            <a:xfrm>
              <a:off x="8325000" y="44830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1" name="Google Shape;198;p25"/>
          <p:cNvSpPr/>
          <p:nvPr/>
        </p:nvSpPr>
        <p:spPr>
          <a:xfrm>
            <a:off x="714960" y="53496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2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 rot="21598800">
            <a:off x="714960" y="751680"/>
            <a:ext cx="4283280" cy="99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5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03" name="Google Shape;202;p26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04" name="Google Shape;203;p26"/>
          <p:cNvSpPr/>
          <p:nvPr/>
        </p:nvSpPr>
        <p:spPr>
          <a:xfrm>
            <a:off x="714960" y="3456360"/>
            <a:ext cx="4959360" cy="553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 This presentation template was created by 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including icons, infographics &amp; images by 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" name="Google Shape;206;p28"/>
          <p:cNvGrpSpPr/>
          <p:nvPr/>
        </p:nvGrpSpPr>
        <p:grpSpPr>
          <a:xfrm>
            <a:off x="8325000" y="534960"/>
            <a:ext cx="103320" cy="615240"/>
            <a:chOff x="8325000" y="534960"/>
            <a:chExt cx="103320" cy="615240"/>
          </a:xfrm>
        </p:grpSpPr>
        <p:sp>
          <p:nvSpPr>
            <p:cNvPr id="106" name="Google Shape;207;p28"/>
            <p:cNvSpPr/>
            <p:nvPr/>
          </p:nvSpPr>
          <p:spPr>
            <a:xfrm>
              <a:off x="832500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208;p28"/>
            <p:cNvSpPr/>
            <p:nvPr/>
          </p:nvSpPr>
          <p:spPr>
            <a:xfrm>
              <a:off x="832500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209;p28"/>
            <p:cNvSpPr/>
            <p:nvPr/>
          </p:nvSpPr>
          <p:spPr>
            <a:xfrm>
              <a:off x="832500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EFE"/>
                </a:gs>
                <a:gs pos="100000">
                  <a:srgbClr val="E496C2"/>
                </a:gs>
              </a:gsLst>
              <a:path path="circle">
                <a:fillToRect l="50000" t="50000" r="50000" b="50000"/>
              </a:path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_1_1_1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211;p29"/>
          <p:cNvSpPr/>
          <p:nvPr/>
        </p:nvSpPr>
        <p:spPr>
          <a:xfrm>
            <a:off x="7935480" y="534960"/>
            <a:ext cx="493560" cy="49356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EA8EED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56160" bIns="5616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body"/>
          </p:nvPr>
        </p:nvSpPr>
        <p:spPr>
          <a:xfrm>
            <a:off x="720000" y="1152360"/>
            <a:ext cx="7354080" cy="3455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11" name="PlaceHolder 2"/>
          <p:cNvSpPr>
            <a:spLocks noGrp="1"/>
          </p:cNvSpPr>
          <p:nvPr>
            <p:ph type="title"/>
          </p:nvPr>
        </p:nvSpPr>
        <p:spPr>
          <a:xfrm>
            <a:off x="1074600" y="534960"/>
            <a:ext cx="73540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2" name="Google Shape;28;p5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grpSp>
        <p:nvGrpSpPr>
          <p:cNvPr id="113" name="Google Shape;29;p5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14" name="Google Shape;30;p5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5" name="Google Shape;31;p5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32;p5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37;p6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9" name="Google Shape;38;p6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20" name="Google Shape;39;p6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40;p6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41;p6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488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gradFill rotWithShape="0">
          <a:gsLst>
            <a:gs pos="0">
              <a:srgbClr val="FFFFFF"/>
            </a:gs>
            <a:gs pos="100000">
              <a:srgbClr val="CEEEFF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4" name="Google Shape;44;p7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191919"/>
            </a:solidFill>
            <a:round/>
          </a:ln>
        </p:spPr>
      </p:cxnSp>
      <p:sp>
        <p:nvSpPr>
          <p:cNvPr id="125" name="PlaceHolder 1"/>
          <p:cNvSpPr>
            <a:spLocks noGrp="1"/>
          </p:cNvSpPr>
          <p:nvPr>
            <p:ph type="body"/>
          </p:nvPr>
        </p:nvSpPr>
        <p:spPr>
          <a:xfrm>
            <a:off x="1904040" y="1517760"/>
            <a:ext cx="5335560" cy="2531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26" name="PlaceHolder 2"/>
          <p:cNvSpPr>
            <a:spLocks noGrp="1"/>
          </p:cNvSpPr>
          <p:nvPr>
            <p:ph type="title"/>
          </p:nvPr>
        </p:nvSpPr>
        <p:spPr>
          <a:xfrm>
            <a:off x="1063440" y="534960"/>
            <a:ext cx="73652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7" name="Google Shape;47;p7"/>
          <p:cNvSpPr/>
          <p:nvPr/>
        </p:nvSpPr>
        <p:spPr>
          <a:xfrm>
            <a:off x="714960" y="66060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28" name="Google Shape;48;p7"/>
          <p:cNvGrpSpPr/>
          <p:nvPr/>
        </p:nvGrpSpPr>
        <p:grpSpPr>
          <a:xfrm>
            <a:off x="8327880" y="534960"/>
            <a:ext cx="103320" cy="615240"/>
            <a:chOff x="8327880" y="534960"/>
            <a:chExt cx="103320" cy="615240"/>
          </a:xfrm>
        </p:grpSpPr>
        <p:sp>
          <p:nvSpPr>
            <p:cNvPr id="129" name="Google Shape;49;p7"/>
            <p:cNvSpPr/>
            <p:nvPr/>
          </p:nvSpPr>
          <p:spPr>
            <a:xfrm>
              <a:off x="832788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50;p7"/>
            <p:cNvSpPr/>
            <p:nvPr/>
          </p:nvSpPr>
          <p:spPr>
            <a:xfrm>
              <a:off x="832788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51;p7"/>
            <p:cNvSpPr/>
            <p:nvPr/>
          </p:nvSpPr>
          <p:spPr>
            <a:xfrm>
              <a:off x="832788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1974600" y="1245600"/>
            <a:ext cx="519408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133" name="Google Shape;54;p8"/>
          <p:cNvGrpSpPr/>
          <p:nvPr/>
        </p:nvGrpSpPr>
        <p:grpSpPr>
          <a:xfrm>
            <a:off x="714960" y="534960"/>
            <a:ext cx="103320" cy="615240"/>
            <a:chOff x="714960" y="534960"/>
            <a:chExt cx="103320" cy="615240"/>
          </a:xfrm>
        </p:grpSpPr>
        <p:sp>
          <p:nvSpPr>
            <p:cNvPr id="134" name="Google Shape;55;p8"/>
            <p:cNvSpPr/>
            <p:nvPr/>
          </p:nvSpPr>
          <p:spPr>
            <a:xfrm>
              <a:off x="714960" y="5349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5" name="Google Shape;56;p8"/>
            <p:cNvSpPr/>
            <p:nvPr/>
          </p:nvSpPr>
          <p:spPr>
            <a:xfrm>
              <a:off x="714960" y="790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6" name="Google Shape;57;p8"/>
            <p:cNvSpPr/>
            <p:nvPr/>
          </p:nvSpPr>
          <p:spPr>
            <a:xfrm>
              <a:off x="714960" y="1046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37" name="Google Shape;58;p8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3920040" y="1716840"/>
            <a:ext cx="3963600" cy="56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2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39" name="Google Shape;62;p9"/>
          <p:cNvCxnSpPr/>
          <p:nvPr/>
        </p:nvCxnSpPr>
        <p:spPr>
          <a:xfrm flipV="1">
            <a:off x="707040" y="531360"/>
            <a:ext cx="7724880" cy="720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  <p:grpSp>
        <p:nvGrpSpPr>
          <p:cNvPr id="140" name="Google Shape;63;p9"/>
          <p:cNvGrpSpPr/>
          <p:nvPr/>
        </p:nvGrpSpPr>
        <p:grpSpPr>
          <a:xfrm>
            <a:off x="714960" y="817560"/>
            <a:ext cx="103320" cy="615600"/>
            <a:chOff x="714960" y="817560"/>
            <a:chExt cx="103320" cy="615600"/>
          </a:xfrm>
        </p:grpSpPr>
        <p:sp>
          <p:nvSpPr>
            <p:cNvPr id="141" name="Google Shape;64;p9"/>
            <p:cNvSpPr/>
            <p:nvPr/>
          </p:nvSpPr>
          <p:spPr>
            <a:xfrm>
              <a:off x="714960" y="8175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65;p9"/>
            <p:cNvSpPr/>
            <p:nvPr/>
          </p:nvSpPr>
          <p:spPr>
            <a:xfrm>
              <a:off x="714960" y="10735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66;p9"/>
            <p:cNvSpPr/>
            <p:nvPr/>
          </p:nvSpPr>
          <p:spPr>
            <a:xfrm>
              <a:off x="714960" y="1329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144" name="Google Shape;67;p9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CEEEFF"/>
            </a:solidFill>
            <a:round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PlaceHolder 1"/>
          <p:cNvSpPr>
            <a:spLocks noGrp="1"/>
          </p:cNvSpPr>
          <p:nvPr>
            <p:ph type="title"/>
          </p:nvPr>
        </p:nvSpPr>
        <p:spPr>
          <a:xfrm>
            <a:off x="720000" y="3710520"/>
            <a:ext cx="3440520" cy="814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cxnSp>
        <p:nvCxnSpPr>
          <p:cNvPr id="146" name="Google Shape;70;p10"/>
          <p:cNvCxnSpPr/>
          <p:nvPr/>
        </p:nvCxnSpPr>
        <p:spPr>
          <a:xfrm flipV="1">
            <a:off x="707040" y="4605120"/>
            <a:ext cx="7724880" cy="684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147" name="Google Shape;71;p10"/>
          <p:cNvSpPr/>
          <p:nvPr/>
        </p:nvSpPr>
        <p:spPr>
          <a:xfrm>
            <a:off x="7707600" y="736920"/>
            <a:ext cx="720720" cy="720720"/>
          </a:xfrm>
          <a:prstGeom prst="star8">
            <a:avLst>
              <a:gd name="adj" fmla="val 12365"/>
            </a:avLst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82440" bIns="82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48" name="Google Shape;72;p10"/>
          <p:cNvGrpSpPr/>
          <p:nvPr/>
        </p:nvGrpSpPr>
        <p:grpSpPr>
          <a:xfrm>
            <a:off x="720000" y="736920"/>
            <a:ext cx="103320" cy="615240"/>
            <a:chOff x="720000" y="736920"/>
            <a:chExt cx="103320" cy="615240"/>
          </a:xfrm>
        </p:grpSpPr>
        <p:sp>
          <p:nvSpPr>
            <p:cNvPr id="149" name="Google Shape;73;p10"/>
            <p:cNvSpPr/>
            <p:nvPr/>
          </p:nvSpPr>
          <p:spPr>
            <a:xfrm>
              <a:off x="720000" y="7369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74;p10"/>
            <p:cNvSpPr/>
            <p:nvPr/>
          </p:nvSpPr>
          <p:spPr>
            <a:xfrm>
              <a:off x="720000" y="99288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75;p10"/>
            <p:cNvSpPr/>
            <p:nvPr/>
          </p:nvSpPr>
          <p:spPr>
            <a:xfrm>
              <a:off x="720000" y="1248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17;p32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713160" y="539640"/>
            <a:ext cx="77173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 1"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220;p33"/>
          <p:cNvSpPr/>
          <p:nvPr/>
        </p:nvSpPr>
        <p:spPr>
          <a:xfrm>
            <a:off x="0" y="-10440"/>
            <a:ext cx="9143640" cy="118044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728640" y="539640"/>
            <a:ext cx="334728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6" name="PlaceHolder 2"/>
          <p:cNvSpPr>
            <a:spLocks noGrp="1"/>
          </p:cNvSpPr>
          <p:nvPr>
            <p:ph type="title"/>
          </p:nvPr>
        </p:nvSpPr>
        <p:spPr>
          <a:xfrm>
            <a:off x="4977720" y="539640"/>
            <a:ext cx="345816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2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1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5551538" y="554580"/>
            <a:ext cx="2773462" cy="6091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0000"/>
          </a:bodyPr>
          <a:lstStyle/>
          <a:p>
            <a:pPr indent="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600" b="1" u="none" strike="noStrike" dirty="0">
                <a:solidFill>
                  <a:schemeClr val="lt1"/>
                </a:solidFill>
                <a:effectLst/>
                <a:uFillTx/>
                <a:latin typeface="Space Grotesk"/>
                <a:ea typeface="Space Grotesk"/>
              </a:rPr>
              <a:t>Text Analytics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8" name="PlaceHolder 2"/>
          <p:cNvSpPr>
            <a:spLocks noGrp="1"/>
          </p:cNvSpPr>
          <p:nvPr>
            <p:ph type="subTitle"/>
          </p:nvPr>
        </p:nvSpPr>
        <p:spPr>
          <a:xfrm>
            <a:off x="0" y="3552840"/>
            <a:ext cx="8429400" cy="6091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EEEFF"/>
              </a:gs>
            </a:gsLst>
            <a:lin ang="5400000"/>
          </a:gradFill>
          <a:ln w="0">
            <a:noFill/>
          </a:ln>
        </p:spPr>
        <p:txBody>
          <a:bodyPr lIns="91440" tIns="91440" rIns="91440" bIns="91440" anchor="ctr">
            <a:normAutofit/>
          </a:bodyPr>
          <a:lstStyle/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 dirty="0">
                <a:solidFill>
                  <a:srgbClr val="000000"/>
                </a:solidFill>
                <a:effectLst/>
                <a:uFillTx/>
                <a:latin typeface="OpenSymbol"/>
              </a:rPr>
              <a:t>By – Prashanth, Amaan, Satwika &amp; Mrudhula</a:t>
            </a:r>
          </a:p>
        </p:txBody>
      </p:sp>
      <p:sp>
        <p:nvSpPr>
          <p:cNvPr id="159" name="Google Shape;229;p34"/>
          <p:cNvSpPr/>
          <p:nvPr/>
        </p:nvSpPr>
        <p:spPr>
          <a:xfrm>
            <a:off x="714960" y="3668400"/>
            <a:ext cx="484920" cy="367200"/>
          </a:xfrm>
          <a:custGeom>
            <a:avLst/>
            <a:gdLst>
              <a:gd name="textAreaLeft" fmla="*/ 0 w 484920"/>
              <a:gd name="textAreaRight" fmla="*/ 485280 w 484920"/>
              <a:gd name="textAreaTop" fmla="*/ 0 h 367200"/>
              <a:gd name="textAreaBottom" fmla="*/ 367560 h 36720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60" name="Google Shape;230;p34"/>
          <p:cNvGrpSpPr/>
          <p:nvPr/>
        </p:nvGrpSpPr>
        <p:grpSpPr>
          <a:xfrm>
            <a:off x="8325000" y="817560"/>
            <a:ext cx="103320" cy="615600"/>
            <a:chOff x="8325000" y="817560"/>
            <a:chExt cx="103320" cy="615600"/>
          </a:xfrm>
        </p:grpSpPr>
        <p:sp>
          <p:nvSpPr>
            <p:cNvPr id="161" name="Google Shape;231;p34"/>
            <p:cNvSpPr/>
            <p:nvPr/>
          </p:nvSpPr>
          <p:spPr>
            <a:xfrm>
              <a:off x="8325000" y="81756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32;p34"/>
            <p:cNvSpPr/>
            <p:nvPr/>
          </p:nvSpPr>
          <p:spPr>
            <a:xfrm>
              <a:off x="8325000" y="107352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233;p34"/>
            <p:cNvSpPr/>
            <p:nvPr/>
          </p:nvSpPr>
          <p:spPr>
            <a:xfrm>
              <a:off x="8325000" y="1329840"/>
              <a:ext cx="103320" cy="103320"/>
            </a:xfrm>
            <a:prstGeom prst="ellipse">
              <a:avLst/>
            </a:prstGeom>
            <a:gradFill rotWithShape="0">
              <a:gsLst>
                <a:gs pos="0">
                  <a:srgbClr val="FFFFFF"/>
                </a:gs>
                <a:gs pos="100000">
                  <a:srgbClr val="80D1FC"/>
                </a:gs>
              </a:gsLst>
              <a:lin ang="5400000"/>
            </a:gra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36360" bIns="363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4" name="Google Shape;234;p34"/>
          <p:cNvSpPr/>
          <p:nvPr/>
        </p:nvSpPr>
        <p:spPr>
          <a:xfrm>
            <a:off x="8058240" y="2400480"/>
            <a:ext cx="723600" cy="7236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80D1FC"/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870823080" tIns="361800" rIns="870823080" bIns="361800" anchor="ctr">
            <a:normAutofit fontScale="250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fr-FR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1">
            <a:extLst>
              <a:ext uri="{FF2B5EF4-FFF2-40B4-BE49-F238E27FC236}">
                <a16:creationId xmlns:a16="http://schemas.microsoft.com/office/drawing/2014/main" id="{420403D3-5274-ECF2-A649-C660FF4DD63E}"/>
              </a:ext>
            </a:extLst>
          </p:cNvPr>
          <p:cNvSpPr txBox="1">
            <a:spLocks/>
          </p:cNvSpPr>
          <p:nvPr/>
        </p:nvSpPr>
        <p:spPr>
          <a:xfrm>
            <a:off x="714960" y="1176840"/>
            <a:ext cx="6550953" cy="16519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tabLst>
                <a:tab pos="0" algn="l"/>
              </a:tabLst>
            </a:pPr>
            <a:r>
              <a:rPr lang="en-US" sz="2400" dirty="0">
                <a:solidFill>
                  <a:schemeClr val="lt1"/>
                </a:solidFill>
                <a:latin typeface="Space Grotesk"/>
                <a:ea typeface="Space Grotesk"/>
              </a:rPr>
              <a:t>Topic- Analysis of BLS(Bureau of Labor Statistics) employment Reports to understand U.S Labor Market Trends </a:t>
            </a:r>
            <a:endParaRPr lang="fr-FR" sz="2400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704880" y="533520"/>
            <a:ext cx="3866760" cy="14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600" b="1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Introduction</a:t>
            </a:r>
            <a:endParaRPr lang="fr-FR" sz="2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656389" y="2410931"/>
            <a:ext cx="3866760" cy="159321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9999"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fr-FR" sz="1400" dirty="0">
                <a:solidFill>
                  <a:srgbClr val="000000"/>
                </a:solidFill>
                <a:latin typeface="Arial"/>
              </a:rPr>
              <a:t>BLS </a:t>
            </a:r>
            <a:r>
              <a:rPr lang="fr-FR" sz="1400" b="0" u="none" strike="noStrike" dirty="0">
                <a:solidFill>
                  <a:srgbClr val="000000"/>
                </a:solidFill>
                <a:effectLst/>
                <a:uFillTx/>
                <a:latin typeface="Arial"/>
              </a:rPr>
              <a:t>Publish Monthly Employment Reports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Which includes job growth, unemployment rates ,etc.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4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By analyzing the wordings and key terms used in BLS reports we can get idea how the labor market changed across time period</a:t>
            </a:r>
            <a:endParaRPr lang="fr-FR" sz="14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2A3E4F-6AFC-957A-67CF-87363241AD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38" t="8356" r="14942" b="58063"/>
          <a:stretch/>
        </p:blipFill>
        <p:spPr>
          <a:xfrm>
            <a:off x="3577022" y="27528"/>
            <a:ext cx="4978160" cy="22236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5A17D1-7152-1DC8-BD03-BF714D0C37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7910" y="921626"/>
            <a:ext cx="1535217" cy="1152299"/>
          </a:xfrm>
          <a:prstGeom prst="rect">
            <a:avLst/>
          </a:prstGeom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C19B0D6B-373C-054A-9ADE-A0006C43B145}"/>
              </a:ext>
            </a:extLst>
          </p:cNvPr>
          <p:cNvSpPr txBox="1">
            <a:spLocks/>
          </p:cNvSpPr>
          <p:nvPr/>
        </p:nvSpPr>
        <p:spPr>
          <a:xfrm>
            <a:off x="5456989" y="2331656"/>
            <a:ext cx="2966575" cy="813625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dirty="0">
                <a:solidFill>
                  <a:schemeClr val="dk1"/>
                </a:solidFill>
                <a:latin typeface="Space Grotesk"/>
              </a:rPr>
              <a:t>Data we are working on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600" dirty="0">
                <a:solidFill>
                  <a:schemeClr val="dk1"/>
                </a:solidFill>
                <a:latin typeface="Space Grotesk"/>
              </a:rPr>
              <a:t>2016 Jan – 2026 Feb</a:t>
            </a:r>
            <a:endParaRPr lang="fr-FR" sz="2600" dirty="0">
              <a:solidFill>
                <a:schemeClr val="dk1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167"/>
          <p:cNvSpPr/>
          <p:nvPr/>
        </p:nvSpPr>
        <p:spPr>
          <a:xfrm>
            <a:off x="2149157" y="405486"/>
            <a:ext cx="857280" cy="5232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69" name="Rectangle 168"/>
          <p:cNvSpPr/>
          <p:nvPr/>
        </p:nvSpPr>
        <p:spPr>
          <a:xfrm>
            <a:off x="1350818" y="890379"/>
            <a:ext cx="2272146" cy="3212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32500" lnSpcReduction="2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 dirty="0">
                <a:solidFill>
                  <a:schemeClr val="dk1"/>
                </a:solidFill>
                <a:effectLst/>
                <a:uFillTx/>
                <a:latin typeface="Space Grotesk"/>
              </a:rPr>
              <a:t>Data Collection &amp; cleaning</a:t>
            </a:r>
            <a:endParaRPr lang="en-US" sz="40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70" name="image69b1c46bce860" descr="image69b1c46bce864"/>
          <p:cNvPicPr/>
          <p:nvPr/>
        </p:nvPicPr>
        <p:blipFill>
          <a:blip r:embed="rId2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BB349F2-4D81-F239-FB76-9D76BB06C17D}"/>
              </a:ext>
            </a:extLst>
          </p:cNvPr>
          <p:cNvSpPr txBox="1"/>
          <p:nvPr/>
        </p:nvSpPr>
        <p:spPr>
          <a:xfrm>
            <a:off x="502227" y="1734365"/>
            <a:ext cx="350866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BLS employment report(our main text report.)</a:t>
            </a:r>
          </a:p>
          <a:p>
            <a:endParaRPr lang="en-US" sz="1200" dirty="0"/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FRED Unemployment rate data(labor market condition indicator)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5EFC29-7CD7-FEB1-3970-92D066A08345}"/>
              </a:ext>
            </a:extLst>
          </p:cNvPr>
          <p:cNvSpPr txBox="1"/>
          <p:nvPr/>
        </p:nvSpPr>
        <p:spPr>
          <a:xfrm>
            <a:off x="502227" y="3694783"/>
            <a:ext cx="3508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Cleaning(punctuation, </a:t>
            </a:r>
            <a:r>
              <a:rPr lang="en-US" sz="1200" dirty="0" err="1"/>
              <a:t>stopwords</a:t>
            </a:r>
            <a:r>
              <a:rPr lang="en-US" sz="1200" dirty="0"/>
              <a:t>, numbers, </a:t>
            </a:r>
            <a:r>
              <a:rPr lang="en-US" sz="1200" dirty="0" err="1"/>
              <a:t>etc</a:t>
            </a:r>
            <a:r>
              <a:rPr lang="en-US" sz="1200" dirty="0"/>
              <a:t>).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200" dirty="0"/>
              <a:t>tokenization and stemming, Lemmatization.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3033656" y="360217"/>
            <a:ext cx="2169818" cy="49183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u="none" strike="noStrike" dirty="0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Analysis</a:t>
            </a:r>
            <a:endParaRPr lang="fr-FR" sz="280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/>
          </p:nvPr>
        </p:nvSpPr>
        <p:spPr>
          <a:xfrm>
            <a:off x="247425" y="1280245"/>
            <a:ext cx="2883050" cy="934366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Word frequency Analysis</a:t>
            </a:r>
            <a:endParaRPr lang="fr-FR" sz="18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sz="1600" b="0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TD-IDF Analysis -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C6BA684-1173-AF41-6986-74ECEEEE4E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5293" y="360217"/>
            <a:ext cx="3287188" cy="38705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F2E2F1-C639-334E-4F26-D794910940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564" y="1334284"/>
            <a:ext cx="8908871" cy="10431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D2297D2-6630-5D33-29AF-A54EE7B8D56A}"/>
              </a:ext>
            </a:extLst>
          </p:cNvPr>
          <p:cNvSpPr txBox="1"/>
          <p:nvPr/>
        </p:nvSpPr>
        <p:spPr>
          <a:xfrm>
            <a:off x="199016" y="2766061"/>
            <a:ext cx="8466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 1- related to manufacturing</a:t>
            </a:r>
          </a:p>
          <a:p>
            <a:r>
              <a:rPr lang="en-US" dirty="0"/>
              <a:t>Topic 2 – Pandemic employment impact</a:t>
            </a:r>
          </a:p>
          <a:p>
            <a:r>
              <a:rPr lang="en-US" dirty="0"/>
              <a:t>Topic 3- Remote Work </a:t>
            </a:r>
            <a:r>
              <a:rPr lang="en-US"/>
              <a:t>&amp; pandemic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3243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6103C-A3F3-6E79-988D-5059ACBD84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9353" y="56978"/>
            <a:ext cx="2333466" cy="426131"/>
          </a:xfrm>
        </p:spPr>
        <p:txBody>
          <a:bodyPr/>
          <a:lstStyle/>
          <a:p>
            <a:r>
              <a:rPr lang="en-US" sz="2000" dirty="0"/>
              <a:t>Sentiment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2D79EF-0B49-90D2-30B4-1B1DEAFE4E4E}"/>
              </a:ext>
            </a:extLst>
          </p:cNvPr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graph with blue lines&#10;&#10;AI-generated content may be incorrect.">
            <a:extLst>
              <a:ext uri="{FF2B5EF4-FFF2-40B4-BE49-F238E27FC236}">
                <a16:creationId xmlns:a16="http://schemas.microsoft.com/office/drawing/2014/main" id="{786DEB3D-8F35-F128-4133-664665F63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119" y="663220"/>
            <a:ext cx="8025042" cy="4264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207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lose-up of words">
            <a:extLst>
              <a:ext uri="{FF2B5EF4-FFF2-40B4-BE49-F238E27FC236}">
                <a16:creationId xmlns:a16="http://schemas.microsoft.com/office/drawing/2014/main" id="{6AE22DCC-1924-9104-B087-89749CEC87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483" y="725490"/>
            <a:ext cx="7838663" cy="4183476"/>
          </a:xfrm>
          <a:prstGeom prst="rect">
            <a:avLst/>
          </a:prstGeom>
        </p:spPr>
      </p:pic>
      <p:sp>
        <p:nvSpPr>
          <p:cNvPr id="6" name="PlaceHolder 1">
            <a:extLst>
              <a:ext uri="{FF2B5EF4-FFF2-40B4-BE49-F238E27FC236}">
                <a16:creationId xmlns:a16="http://schemas.microsoft.com/office/drawing/2014/main" id="{171A698F-2FD5-85A7-5022-6F74A972C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80639" y="138544"/>
            <a:ext cx="2136350" cy="47610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Space Grotesk"/>
              </a:rPr>
              <a:t>Word Cloud</a:t>
            </a:r>
            <a:endParaRPr lang="fr-FR" sz="280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98437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413737" y="545182"/>
            <a:ext cx="4316525" cy="609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Space Grotesk"/>
              </a:rPr>
              <a:t>Federal Reserve economic Data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pic>
        <p:nvPicPr>
          <p:cNvPr id="3" name="Picture 2" descr="A graph showing a line&#10;&#10;AI-generated content may be incorrect.">
            <a:extLst>
              <a:ext uri="{FF2B5EF4-FFF2-40B4-BE49-F238E27FC236}">
                <a16:creationId xmlns:a16="http://schemas.microsoft.com/office/drawing/2014/main" id="{1C4CC614-E8FE-ADB8-92F1-E64178496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06" y="1339397"/>
            <a:ext cx="8579785" cy="29970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Rectangle 175"/>
          <p:cNvSpPr/>
          <p:nvPr/>
        </p:nvSpPr>
        <p:spPr>
          <a:xfrm>
            <a:off x="3212552" y="476460"/>
            <a:ext cx="1757363" cy="514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850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800" b="1" dirty="0">
                <a:solidFill>
                  <a:schemeClr val="dk1"/>
                </a:solidFill>
                <a:latin typeface="Space Grotesk"/>
              </a:rPr>
              <a:t>Suggestions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74" name="PlaceHolder 2"/>
          <p:cNvSpPr txBox="1">
            <a:spLocks/>
          </p:cNvSpPr>
          <p:nvPr/>
        </p:nvSpPr>
        <p:spPr>
          <a:xfrm>
            <a:off x="497060" y="1707759"/>
            <a:ext cx="3894831" cy="126577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50">
                <a:solidFill>
                  <a:srgbClr val="333333"/>
                </a:solidFill>
                <a:latin typeface="Merriweather Sans" panose="020F0502020204030204" pitchFamily="2" charset="0"/>
              </a:rPr>
              <a:t>Latent Dirichlet Allocation(LDA)- Identifying main themes across reports.</a:t>
            </a:r>
          </a:p>
          <a:p>
            <a:endParaRPr lang="en-US" sz="1050">
              <a:solidFill>
                <a:srgbClr val="333333"/>
              </a:solidFill>
              <a:latin typeface="Merriweather Sans" panose="020F0502020204030204" pitchFamily="2" charset="0"/>
            </a:endParaRPr>
          </a:p>
          <a:p>
            <a:r>
              <a:rPr lang="en-US" sz="1050">
                <a:solidFill>
                  <a:srgbClr val="333333"/>
                </a:solidFill>
                <a:latin typeface="Merriweather Sans" panose="020F0502020204030204" pitchFamily="2" charset="0"/>
              </a:rPr>
              <a:t>Sentiment Anlysis – using Positive vs negative analysis</a:t>
            </a:r>
          </a:p>
          <a:p>
            <a:endParaRPr lang="en-US" sz="1050">
              <a:solidFill>
                <a:srgbClr val="333333"/>
              </a:solidFill>
              <a:latin typeface="Merriweather Sans" panose="020F0502020204030204" pitchFamily="2" charset="0"/>
            </a:endParaRPr>
          </a:p>
          <a:p>
            <a:r>
              <a:rPr lang="en-US" sz="1050">
                <a:solidFill>
                  <a:srgbClr val="333333"/>
                </a:solidFill>
                <a:latin typeface="Merriweather Sans" panose="020F0502020204030204" pitchFamily="2" charset="0"/>
              </a:rPr>
              <a:t>Logistig regression model – Predicting labor market sentiment</a:t>
            </a:r>
            <a:endParaRPr lang="en-US" sz="1050" dirty="0">
              <a:solidFill>
                <a:srgbClr val="333333"/>
              </a:solidFill>
              <a:latin typeface="Merriweather Sans" panose="020F0502020204030204" pitchFamily="2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Rectangle 178"/>
          <p:cNvSpPr/>
          <p:nvPr/>
        </p:nvSpPr>
        <p:spPr>
          <a:xfrm>
            <a:off x="5207607" y="415636"/>
            <a:ext cx="1878993" cy="4641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b">
            <a:normAutofit fontScale="92500" lnSpcReduction="10000"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1" dirty="0">
                <a:solidFill>
                  <a:schemeClr val="dk1"/>
                </a:solidFill>
                <a:latin typeface="Space Grotesk"/>
              </a:rPr>
              <a:t>S</a:t>
            </a:r>
            <a:r>
              <a:rPr lang="en-US" sz="2800" b="1" dirty="0">
                <a:solidFill>
                  <a:schemeClr val="dk1"/>
                </a:solidFill>
                <a:latin typeface="Space Grotesk"/>
              </a:rPr>
              <a:t>ummary</a:t>
            </a:r>
            <a:endParaRPr lang="en-US" sz="28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180" name="image69b1c46be31f7" descr="image69b1c46be31fb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91DEBF9-ED27-2ADE-D6B4-80376A6E46F3}"/>
              </a:ext>
            </a:extLst>
          </p:cNvPr>
          <p:cNvSpPr txBox="1"/>
          <p:nvPr/>
        </p:nvSpPr>
        <p:spPr>
          <a:xfrm>
            <a:off x="4959927" y="1427018"/>
            <a:ext cx="323503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Challenge – Data itself.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Analysis was done good.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Further, We need to even collab CPI(consumer price index) to better create trends.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PlaceHolder 1"/>
          <p:cNvSpPr>
            <a:spLocks noGrp="1"/>
          </p:cNvSpPr>
          <p:nvPr>
            <p:ph type="title"/>
          </p:nvPr>
        </p:nvSpPr>
        <p:spPr>
          <a:xfrm>
            <a:off x="714240" y="368280"/>
            <a:ext cx="4285800" cy="1767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sp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5200" b="1" u="none" strike="noStrike">
                <a:solidFill>
                  <a:schemeClr val="dk1"/>
                </a:solidFill>
                <a:effectLst/>
                <a:uFillTx/>
                <a:latin typeface="Space Grotesk"/>
                <a:ea typeface="Space Grotesk"/>
              </a:rPr>
              <a:t>Thanks!</a:t>
            </a:r>
            <a:endParaRPr lang="fr-FR" sz="52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92" name="PlaceHolder 2"/>
          <p:cNvSpPr>
            <a:spLocks noGrp="1"/>
          </p:cNvSpPr>
          <p:nvPr>
            <p:ph type="subTitle"/>
          </p:nvPr>
        </p:nvSpPr>
        <p:spPr>
          <a:xfrm>
            <a:off x="714240" y="1933560"/>
            <a:ext cx="4285800" cy="61555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marL="361800"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" sz="1400" b="1" u="none" strike="noStrike" dirty="0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Do you have any questions?</a:t>
            </a: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endParaRPr lang="en-US" sz="14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13" name="Google Shape;516;p53"/>
          <p:cNvSpPr/>
          <p:nvPr/>
        </p:nvSpPr>
        <p:spPr>
          <a:xfrm>
            <a:off x="714960" y="2006280"/>
            <a:ext cx="348120" cy="263520"/>
          </a:xfrm>
          <a:custGeom>
            <a:avLst/>
            <a:gdLst>
              <a:gd name="textAreaLeft" fmla="*/ 0 w 348120"/>
              <a:gd name="textAreaRight" fmla="*/ 348480 w 348120"/>
              <a:gd name="textAreaTop" fmla="*/ 0 h 263520"/>
              <a:gd name="textAreaBottom" fmla="*/ 263880 h 263520"/>
            </a:gdLst>
            <a:ahLst/>
            <a:cxnLst/>
            <a:rect l="textAreaLeft" t="textAreaTop" r="textAreaRight" b="textAreaBottom"/>
            <a:pathLst>
              <a:path w="2439" h="1848">
                <a:moveTo>
                  <a:pt x="1580" y="1"/>
                </a:moveTo>
                <a:lnTo>
                  <a:pt x="1371" y="203"/>
                </a:lnTo>
                <a:lnTo>
                  <a:pt x="1919" y="780"/>
                </a:lnTo>
                <a:lnTo>
                  <a:pt x="1" y="780"/>
                </a:lnTo>
                <a:lnTo>
                  <a:pt x="1" y="1068"/>
                </a:lnTo>
                <a:lnTo>
                  <a:pt x="1919" y="1068"/>
                </a:lnTo>
                <a:lnTo>
                  <a:pt x="1371" y="1645"/>
                </a:lnTo>
                <a:lnTo>
                  <a:pt x="1580" y="1847"/>
                </a:lnTo>
                <a:lnTo>
                  <a:pt x="2439" y="924"/>
                </a:lnTo>
                <a:lnTo>
                  <a:pt x="1580" y="1"/>
                </a:lnTo>
                <a:close/>
              </a:path>
            </a:pathLst>
          </a:custGeom>
          <a:solidFill>
            <a:schemeClr val="dk1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6A7EFA-2199-3374-FBA5-8BF8EA926095}"/>
              </a:ext>
            </a:extLst>
          </p:cNvPr>
          <p:cNvSpPr/>
          <p:nvPr/>
        </p:nvSpPr>
        <p:spPr>
          <a:xfrm>
            <a:off x="519545" y="3438273"/>
            <a:ext cx="4953000" cy="7866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les Report by Slidesgo">
  <a:themeElements>
    <a:clrScheme name="Simple Light">
      <a:dk1>
        <a:srgbClr val="191919"/>
      </a:dk1>
      <a:lt1>
        <a:srgbClr val="FFFFFF"/>
      </a:lt1>
      <a:dk2>
        <a:srgbClr val="CEEEFF"/>
      </a:dk2>
      <a:lt2>
        <a:srgbClr val="80DCFC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FFFFFF"/>
      </a:dk1>
      <a:lt1>
        <a:srgbClr val="22244E"/>
      </a:lt1>
      <a:dk2>
        <a:srgbClr val="503259"/>
      </a:dk2>
      <a:lt2>
        <a:srgbClr val="765186"/>
      </a:lt2>
      <a:accent1>
        <a:srgbClr val="B07CC6"/>
      </a:accent1>
      <a:accent2>
        <a:srgbClr val="FAF6E7"/>
      </a:accent2>
      <a:accent3>
        <a:srgbClr val="E3DFD2"/>
      </a:accent3>
      <a:accent4>
        <a:srgbClr val="FFFFFF"/>
      </a:accent4>
      <a:accent5>
        <a:srgbClr val="FFFFFF"/>
      </a:accent5>
      <a:accent6>
        <a:srgbClr val="FFFFFF"/>
      </a:accent6>
      <a:hlink>
        <a:srgbClr val="765186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128</TotalTime>
  <Words>218</Words>
  <Application>Microsoft Office PowerPoint</Application>
  <PresentationFormat>On-screen Show (16:9)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Calibri</vt:lpstr>
      <vt:lpstr>Merriweather Sans</vt:lpstr>
      <vt:lpstr>Open Sans</vt:lpstr>
      <vt:lpstr>OpenSymbol</vt:lpstr>
      <vt:lpstr>Space Grotesk</vt:lpstr>
      <vt:lpstr>Symbol</vt:lpstr>
      <vt:lpstr>Wingdings</vt:lpstr>
      <vt:lpstr>Sales Report by Slidesgo</vt:lpstr>
      <vt:lpstr>Slidesgo Final Pages</vt:lpstr>
      <vt:lpstr>Text Analytics</vt:lpstr>
      <vt:lpstr>Introduction</vt:lpstr>
      <vt:lpstr>PowerPoint Presentation</vt:lpstr>
      <vt:lpstr>Analysis</vt:lpstr>
      <vt:lpstr>PowerPoint Presentation</vt:lpstr>
      <vt:lpstr>Sentiment Analysis</vt:lpstr>
      <vt:lpstr>Word Cloud</vt:lpstr>
      <vt:lpstr>Federal Reserve economic Data</vt:lpstr>
      <vt:lpstr>PowerPoint Presentation</vt:lpstr>
      <vt:lpstr>PowerPoint Presentation</vt:lpstr>
      <vt:lpstr>Thanks!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Mohammedamaanqureshi</dc:creator>
  <cp:lastModifiedBy>Prashanth varma N</cp:lastModifiedBy>
  <cp:revision>2</cp:revision>
  <dcterms:modified xsi:type="dcterms:W3CDTF">2026-10-07T14:45:39Z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2026-03-11T19:37:09Z</dcterms:created>
  <dc:creator>Unknown Creator</dc:creator>
  <dc:description/>
  <dc:language>en-US</dc:language>
  <cp:lastModifiedBy>Unknown Creator</cp:lastModifiedBy>
  <dcterms:modified xsi:type="dcterms:W3CDTF">2026-03-11T19:37:09Z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